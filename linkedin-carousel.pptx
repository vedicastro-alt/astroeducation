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315200" cy="9144000"/>
  <p:notesSz cx="9144000" cy="7315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143000"/>
            <a:ext cx="914400" cy="914400"/>
          </a:xfrm>
          <a:prstGeom prst="ellipse">
            <a:avLst/>
          </a:prstGeom>
          <a:solidFill>
            <a:srgbClr val="1C2A20"/>
          </a:solidFill>
          <a:ln/>
        </p:spPr>
      </p:sp>
      <p:pic>
        <p:nvPicPr>
          <p:cNvPr id="3" name="Image 0" descr="mark-on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1568" y="1344168"/>
            <a:ext cx="512064" cy="5120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2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FOUNDER'S PLAYBOOK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88920"/>
            <a:ext cx="6217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2EA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Wrote The Code.</a:t>
            </a:r>
            <a:endParaRPr lang="en-US" sz="38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2EA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 Was</a:t>
            </a:r>
            <a:endParaRPr lang="en-US" sz="38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2EA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Else.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7607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actually took to build and launch a real AI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— the honest version, not the highlight reel.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80924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2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→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A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E7ECE5"/>
          </a:solidFill>
          <a:ln/>
        </p:spPr>
      </p:sp>
      <p:pic>
        <p:nvPicPr>
          <p:cNvPr id="3" name="Image 0" descr="mark-on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6492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TIMELINE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300 hours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actually looks like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2697480"/>
            <a:ext cx="6217920" cy="2286000"/>
          </a:xfrm>
          <a:prstGeom prst="roundRect">
            <a:avLst>
              <a:gd name="adj" fmla="val 2400"/>
            </a:avLst>
          </a:prstGeom>
          <a:solidFill>
            <a:srgbClr val="14201A"/>
          </a:solidFill>
          <a:ln/>
          <a:effectLst>
            <a:outerShdw sx="100000" sy="100000" kx="0" ky="0" algn="bl" rotWithShape="0" blurRad="127000" dist="38100" dir="5400000">
              <a:srgbClr val="8A7C6C">
                <a:alpha val="3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48640" y="288036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</a:t>
            </a:r>
            <a:endParaRPr lang="en-US" sz="7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· 6 WEEKS · OUTSIDE MY DAY JOB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5404104"/>
            <a:ext cx="109728" cy="109728"/>
          </a:xfrm>
          <a:prstGeom prst="ellipse">
            <a:avLst/>
          </a:prstGeom>
          <a:solidFill>
            <a:srgbClr val="A845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5239512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 third of all code changes landed between 10pm and 5am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6117336"/>
            <a:ext cx="109728" cy="109728"/>
          </a:xfrm>
          <a:prstGeom prst="ellipse">
            <a:avLst/>
          </a:prstGeom>
          <a:solidFill>
            <a:srgbClr val="A8452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5952744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around a full-time job and family — not a sabbatical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48640" y="6830568"/>
            <a:ext cx="109728" cy="109728"/>
          </a:xfrm>
          <a:prstGeom prst="ellipse">
            <a:avLst/>
          </a:prstGeom>
          <a:solidFill>
            <a:srgbClr val="A8452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6665976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from the first commit to a live site taking real payments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A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E7ECE5"/>
          </a:solidFill>
          <a:ln/>
        </p:spPr>
      </p:sp>
      <p:pic>
        <p:nvPicPr>
          <p:cNvPr id="3" name="Image 0" descr="mark-on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6492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BUILD, BY THE NUMBERS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weekend project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2948940" cy="182880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12700">
            <a:solidFill>
              <a:srgbClr val="DCD0B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35000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~15,000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across 128 files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817620" y="2148840"/>
            <a:ext cx="2948940" cy="182880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12700">
            <a:solidFill>
              <a:srgbClr val="DCD0B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46220" y="235000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4046220" y="306324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across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working branches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297680"/>
            <a:ext cx="2948940" cy="182880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12700">
            <a:solidFill>
              <a:srgbClr val="DCD0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49884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21208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releases —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code-reviewed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817620" y="4297680"/>
            <a:ext cx="2948940" cy="182880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12700">
            <a:solidFill>
              <a:srgbClr val="DCD0B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46220" y="4498848"/>
            <a:ext cx="2491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4046220" y="5212080"/>
            <a:ext cx="24917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blog posts,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and shipped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80924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reviewed and directed by a human — not autopilot.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A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E7ECE5"/>
          </a:solidFill>
          <a:ln/>
        </p:spPr>
      </p:sp>
      <p:pic>
        <p:nvPicPr>
          <p:cNvPr id="3" name="Image 0" descr="mark-on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6492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TESTED HONESTLY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built my harshest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critics before my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feature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role-played skeptical parents — different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ages, different mindsets — browsing the live site in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character, deciding honestly whether they'd pay.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4434840"/>
            <a:ext cx="6217920" cy="1737360"/>
          </a:xfrm>
          <a:prstGeom prst="roundRect">
            <a:avLst>
              <a:gd name="adj" fmla="val 3158"/>
            </a:avLst>
          </a:prstGeom>
          <a:solidFill>
            <a:srgbClr val="1420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5720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4406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00" kern="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OF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spc="100" kern="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468880" y="4572000"/>
            <a:ext cx="0" cy="1417320"/>
          </a:xfrm>
          <a:prstGeom prst="line">
            <a:avLst/>
          </a:prstGeom>
          <a:noFill/>
          <a:ln w="12700">
            <a:solidFill>
              <a:srgbClr val="3E4C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51760" y="45720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2331720" y="5440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IN-CHARACTER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SESSIONS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26280" y="4572000"/>
            <a:ext cx="0" cy="1417320"/>
          </a:xfrm>
          <a:prstGeom prst="line">
            <a:avLst/>
          </a:prstGeom>
          <a:noFill/>
          <a:ln w="12700">
            <a:solidFill>
              <a:srgbClr val="3E4C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63440" y="4572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0/3</a:t>
            </a:r>
            <a:endParaRPr lang="en-US" sz="3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54406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HAVE PAID —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spc="50" kern="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 ROUND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9224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independently found the same flaw: the age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“personalisation” was cosmetic, not structural. That's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customer feedback, surfaced in an afternoon.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A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E7ECE5"/>
          </a:solidFill>
          <a:ln/>
        </p:spPr>
      </p:sp>
      <p:pic>
        <p:nvPicPr>
          <p:cNvPr id="3" name="Image 0" descr="mark-on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6492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TECH-CURIOUS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fairness bug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hiding in the code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2560320"/>
            <a:ext cx="6217920" cy="1554480"/>
          </a:xfrm>
          <a:prstGeom prst="roundRect">
            <a:avLst>
              <a:gd name="adj" fmla="val 3529"/>
            </a:avLst>
          </a:prstGeom>
          <a:solidFill>
            <a:srgbClr val="FFFDF8"/>
          </a:solidFill>
          <a:ln w="12700">
            <a:solidFill>
              <a:srgbClr val="DCD0B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743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could never rank as a child's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subject — across 3,000 simulated charts, it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zero times. A scale bug, not a talent gap.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297680"/>
            <a:ext cx="6217920" cy="1554480"/>
          </a:xfrm>
          <a:prstGeom prst="roundRect">
            <a:avLst>
              <a:gd name="adj" fmla="val 3529"/>
            </a:avLst>
          </a:prstGeom>
          <a:solidFill>
            <a:srgbClr val="14201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4480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2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7548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D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standardisation — compare each subject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D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its own typical range, not a raw total. Re-verified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D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6,000-chart simulation.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Next.js · TypeScript · Supabase · Stripe · real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ephemeris-based astronomical calculation, not templates.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A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E7ECE5"/>
          </a:solidFill>
          <a:ln/>
        </p:spPr>
      </p:sp>
      <p:pic>
        <p:nvPicPr>
          <p:cNvPr id="3" name="Image 0" descr="mark-on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6492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PRODUCT-CURIOUS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first,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blind leap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128016" cy="128016"/>
          </a:xfrm>
          <a:prstGeom prst="ellipse">
            <a:avLst/>
          </a:prstGeom>
          <a:solidFill>
            <a:srgbClr val="A8452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478024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gap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825496"/>
            <a:ext cx="5897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direct competitor missed at least one of 5 things: real calculation, child-specific content, global tone, modern UX, honest positioning.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023360"/>
            <a:ext cx="128016" cy="128016"/>
          </a:xfrm>
          <a:prstGeom prst="ellipse">
            <a:avLst/>
          </a:prstGeom>
          <a:solidFill>
            <a:srgbClr val="A845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3895344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strategy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242816"/>
            <a:ext cx="5897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 is a poor fit for this category. Organic content, SEO and Pinterest lead instead — backed by real case data, not guesswork.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5440680"/>
            <a:ext cx="128016" cy="128016"/>
          </a:xfrm>
          <a:prstGeom prst="ellipse">
            <a:avLst/>
          </a:prstGeom>
          <a:solidFill>
            <a:srgbClr val="A8452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5312664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risk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660136"/>
            <a:ext cx="5897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processors restrict this category, so every word on the site was framed around education and parenting — never fortune-telling.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7360920"/>
            <a:ext cx="6217920" cy="1051560"/>
          </a:xfrm>
          <a:prstGeom prst="roundRect">
            <a:avLst>
              <a:gd name="adj" fmla="val 5217"/>
            </a:avLst>
          </a:prstGeom>
          <a:solidFill>
            <a:srgbClr val="1420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7498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2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projection: $300–$2,000/month within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2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months of consistent content effort.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A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E7ECE5"/>
          </a:solidFill>
          <a:ln/>
        </p:spPr>
      </p:sp>
      <p:pic>
        <p:nvPicPr>
          <p:cNvPr id="3" name="Image 0" descr="mark-on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6492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IT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Astrology has run</a:t>
            </a:r>
            <a:endParaRPr lang="en-US" sz="27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my family for years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6217920" cy="2926080"/>
          </a:xfrm>
          <a:prstGeom prst="roundRect">
            <a:avLst>
              <a:gd name="adj" fmla="val 2813"/>
            </a:avLst>
          </a:prstGeom>
          <a:solidFill>
            <a:srgbClr val="FFFDF8"/>
          </a:solidFill>
          <a:ln w="12700">
            <a:solidFill>
              <a:srgbClr val="DCD0B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3DD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2461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I've practised astrology for years, as a passionate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 that runs in my family. With my own two kids,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used it as one more lens for understanding their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and how to support them better.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wanted to offer that same reflection to other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— and build it as a genuine passive-income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20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along the way.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9788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starting point for conversations about a child —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prediction. The site says so plainly.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A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457200" cy="457200"/>
          </a:xfrm>
          <a:prstGeom prst="ellipse">
            <a:avLst/>
          </a:prstGeom>
          <a:solidFill>
            <a:srgbClr val="E7ECE5"/>
          </a:solidFill>
          <a:ln/>
        </p:spPr>
      </p:sp>
      <p:pic>
        <p:nvPicPr>
          <p:cNvPr id="3" name="Image 0" descr="mark-on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6492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6583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A84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PLAYBOOK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things I'd tell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anyone building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253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AI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420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1089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AI a memory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4107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session remembers the last one — keep a running build log.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40873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420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40416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constraints first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43434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and legal lines, decided before a word of copy is written.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50200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420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497433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harshest critic first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52760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testing before scaling, every time.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95274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420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5952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590702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Pause, don't delete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1097280" y="6208776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what isn't ready behind a flag — come back when it's right.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68854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4201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6885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683971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3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uncomfortable result is the useful one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7141464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 finding made the product better.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6120" y="731520"/>
            <a:ext cx="822960" cy="822960"/>
          </a:xfrm>
          <a:prstGeom prst="ellipse">
            <a:avLst/>
          </a:prstGeom>
          <a:solidFill>
            <a:srgbClr val="1C2A20"/>
          </a:solidFill>
          <a:ln/>
        </p:spPr>
      </p:sp>
      <p:pic>
        <p:nvPicPr>
          <p:cNvPr id="3" name="Image 0" descr="mark-on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7171" y="912571"/>
            <a:ext cx="460858" cy="46085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783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2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SHIFT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2EA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doesn't replace</a:t>
            </a:r>
            <a:endParaRPr lang="en-US" sz="34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2EA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judgement.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0332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multiplies whatever</a:t>
            </a:r>
            <a:endParaRPr lang="en-US" sz="34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C25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judgement you bring.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371600" y="5623560"/>
            <a:ext cx="91440" cy="91440"/>
          </a:xfrm>
          <a:prstGeom prst="ellipse">
            <a:avLst/>
          </a:prstGeom>
          <a:solidFill>
            <a:srgbClr val="C25F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600200" y="5468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 messy idea into clean systems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371600" y="6080760"/>
            <a:ext cx="91440" cy="91440"/>
          </a:xfrm>
          <a:prstGeom prst="ellipse">
            <a:avLst/>
          </a:prstGeom>
          <a:solidFill>
            <a:srgbClr val="C25F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600200" y="59253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Arguing against your own assumptions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371600" y="6537960"/>
            <a:ext cx="91440" cy="91440"/>
          </a:xfrm>
          <a:prstGeom prst="ellipse">
            <a:avLst/>
          </a:prstGeom>
          <a:solidFill>
            <a:srgbClr val="C25F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6382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guardrails before you build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371600" y="6995160"/>
            <a:ext cx="91440" cy="91440"/>
          </a:xfrm>
          <a:prstGeom prst="ellipse">
            <a:avLst/>
          </a:prstGeom>
          <a:solidFill>
            <a:srgbClr val="C25F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600200" y="6839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what to ship, park, or fix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960120"/>
            <a:ext cx="914400" cy="914400"/>
          </a:xfrm>
          <a:prstGeom prst="ellipse">
            <a:avLst/>
          </a:prstGeom>
          <a:solidFill>
            <a:srgbClr val="1C2A20"/>
          </a:solidFill>
          <a:ln/>
        </p:spPr>
      </p:sp>
      <p:pic>
        <p:nvPicPr>
          <p:cNvPr id="3" name="Image 0" descr="mark-on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1568" y="1161288"/>
            <a:ext cx="512064" cy="5120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402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EA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full story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0175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playbook — the tech-curious details, the</a:t>
            </a:r>
            <a:endParaRPr lang="en-US" sz="14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research, and every lesson learned — is in</a:t>
            </a:r>
            <a:endParaRPr lang="en-US" sz="14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article. Link in the comments below.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1005840" y="4480560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1C2A20"/>
          </a:solidFill>
          <a:ln w="12700">
            <a:solidFill>
              <a:srgbClr val="35462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4709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littlestargazer.com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5074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product this whole story is about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989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building with AI — or deciding how to —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D8C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I'd love to compare notes. Connect below.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8183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25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#AI  #Startups  #ProductManagement  #BuildInPublic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8641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2026-09-23T00:47:54Z</dcterms:created>
  <dcterms:modified xsi:type="dcterms:W3CDTF">2026-09-23T00:47:54Z</dcterms:modified>
</cp:coreProperties>
</file>