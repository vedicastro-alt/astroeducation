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7315200" cy="9144000"/>
  <p:notesSz cx="9144000" cy="73152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A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914400"/>
            <a:ext cx="137160" cy="137160"/>
          </a:xfrm>
          <a:prstGeom prst="star5">
            <a:avLst/>
          </a:prstGeom>
          <a:solidFill>
            <a:srgbClr val="39406E"/>
          </a:solidFill>
          <a:ln/>
        </p:spPr>
      </p:sp>
      <p:sp>
        <p:nvSpPr>
          <p:cNvPr id="3" name="Shape 1"/>
          <p:cNvSpPr/>
          <p:nvPr/>
        </p:nvSpPr>
        <p:spPr>
          <a:xfrm>
            <a:off x="6492240" y="1371600"/>
            <a:ext cx="109728" cy="109728"/>
          </a:xfrm>
          <a:prstGeom prst="star5">
            <a:avLst/>
          </a:prstGeom>
          <a:solidFill>
            <a:srgbClr val="39406E"/>
          </a:solidFill>
          <a:ln/>
        </p:spPr>
      </p:sp>
      <p:sp>
        <p:nvSpPr>
          <p:cNvPr id="4" name="Shape 2"/>
          <p:cNvSpPr/>
          <p:nvPr/>
        </p:nvSpPr>
        <p:spPr>
          <a:xfrm>
            <a:off x="1188720" y="7863840"/>
            <a:ext cx="123444" cy="123444"/>
          </a:xfrm>
          <a:prstGeom prst="star5">
            <a:avLst/>
          </a:prstGeom>
          <a:solidFill>
            <a:srgbClr val="39406E"/>
          </a:solidFill>
          <a:ln/>
        </p:spPr>
      </p:sp>
      <p:sp>
        <p:nvSpPr>
          <p:cNvPr id="5" name="Shape 3"/>
          <p:cNvSpPr/>
          <p:nvPr/>
        </p:nvSpPr>
        <p:spPr>
          <a:xfrm>
            <a:off x="6035040" y="7498080"/>
            <a:ext cx="137160" cy="137160"/>
          </a:xfrm>
          <a:prstGeom prst="star5">
            <a:avLst/>
          </a:prstGeom>
          <a:solidFill>
            <a:srgbClr val="39406E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3931920"/>
            <a:ext cx="96012" cy="96012"/>
          </a:xfrm>
          <a:prstGeom prst="star5">
            <a:avLst/>
          </a:prstGeom>
          <a:solidFill>
            <a:srgbClr val="39406E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0" y="4480560"/>
            <a:ext cx="109728" cy="109728"/>
          </a:xfrm>
          <a:prstGeom prst="star5">
            <a:avLst/>
          </a:prstGeom>
          <a:solidFill>
            <a:srgbClr val="39406E"/>
          </a:solidFill>
          <a:ln/>
        </p:spPr>
      </p:sp>
      <p:sp>
        <p:nvSpPr>
          <p:cNvPr id="8" name="Shape 6"/>
          <p:cNvSpPr/>
          <p:nvPr/>
        </p:nvSpPr>
        <p:spPr>
          <a:xfrm>
            <a:off x="3246120" y="1234440"/>
            <a:ext cx="822960" cy="82296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9" name="Shape 7"/>
          <p:cNvSpPr/>
          <p:nvPr/>
        </p:nvSpPr>
        <p:spPr>
          <a:xfrm>
            <a:off x="3468319" y="1456639"/>
            <a:ext cx="378562" cy="378562"/>
          </a:xfrm>
          <a:prstGeom prst="star5">
            <a:avLst/>
          </a:prstGeom>
          <a:solidFill>
            <a:srgbClr val="141A3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33172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E6D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FOUNDER'S PLAYBOOK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834640"/>
            <a:ext cx="6217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Wrote The Code.</a:t>
            </a:r>
            <a:endParaRPr lang="en-US" sz="3800" dirty="0"/>
          </a:p>
          <a:p>
            <a:pPr algn="ctr"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Hard Part Was</a:t>
            </a:r>
            <a:endParaRPr lang="en-US" sz="3800" dirty="0"/>
          </a:p>
          <a:p>
            <a:pPr algn="ctr"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Else.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580644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E9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actually took to build and launch a real AI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E9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— the honest version, not the highlight reel.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80924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SWIPE →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86410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B81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457200" cy="45720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" y="672084"/>
            <a:ext cx="210312" cy="210312"/>
          </a:xfrm>
          <a:prstGeom prst="star5">
            <a:avLst/>
          </a:prstGeom>
          <a:solidFill>
            <a:srgbClr val="141A3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88720" y="65836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TIMELINE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6217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41A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300 hours</a:t>
            </a:r>
            <a:endParaRPr lang="en-US" sz="30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41A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actually looks like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2697480"/>
            <a:ext cx="6217920" cy="2286000"/>
          </a:xfrm>
          <a:prstGeom prst="roundRect">
            <a:avLst>
              <a:gd name="adj" fmla="val 4800"/>
            </a:avLst>
          </a:prstGeom>
          <a:solidFill>
            <a:srgbClr val="141A35"/>
          </a:solidFill>
          <a:ln/>
          <a:effectLst>
            <a:outerShdw sx="100000" sy="100000" kx="0" ky="0" algn="bl" rotWithShape="0" blurRad="127000" dist="38100" dir="5400000">
              <a:srgbClr val="8C90B8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548640" y="2880360"/>
            <a:ext cx="6217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300</a:t>
            </a:r>
            <a:endParaRPr lang="en-US" sz="7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6052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E9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· 6 WEEKS · OUTSIDE MY DAY JOB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5404104"/>
            <a:ext cx="109728" cy="10972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5239512"/>
            <a:ext cx="5897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2B2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Nearly a third of all code changes landed between 10pm and 5am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6117336"/>
            <a:ext cx="109728" cy="10972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5952744"/>
            <a:ext cx="5897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2B2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Fitted around a full-time job and family — not a sabbatical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48640" y="6830568"/>
            <a:ext cx="109728" cy="10972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6665976"/>
            <a:ext cx="5897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2B2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days from the first commit to a live site taking real payments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6126480" y="86410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457200" cy="45720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" y="672084"/>
            <a:ext cx="210312" cy="210312"/>
          </a:xfrm>
          <a:prstGeom prst="star5">
            <a:avLst/>
          </a:prstGeom>
          <a:solidFill>
            <a:srgbClr val="141A3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88720" y="65836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BUILD, BY THE NUMBERS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A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weekend project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2948940" cy="1828800"/>
          </a:xfrm>
          <a:prstGeom prst="roundRect">
            <a:avLst>
              <a:gd name="adj" fmla="val 5000"/>
            </a:avLst>
          </a:prstGeom>
          <a:solidFill>
            <a:srgbClr val="F7F6FC"/>
          </a:solidFill>
          <a:ln w="12700">
            <a:solidFill>
              <a:srgbClr val="DAD6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350008"/>
            <a:ext cx="24917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A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~15,000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063240"/>
            <a:ext cx="24917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7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production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7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across 128 files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817620" y="2148840"/>
            <a:ext cx="2948940" cy="1828800"/>
          </a:xfrm>
          <a:prstGeom prst="roundRect">
            <a:avLst>
              <a:gd name="adj" fmla="val 5000"/>
            </a:avLst>
          </a:prstGeom>
          <a:solidFill>
            <a:srgbClr val="F7F6FC"/>
          </a:solidFill>
          <a:ln w="12700">
            <a:solidFill>
              <a:srgbClr val="DAD6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46220" y="2350008"/>
            <a:ext cx="24917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A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185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4046220" y="3063240"/>
            <a:ext cx="24917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7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 across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7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working branches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297680"/>
            <a:ext cx="2948940" cy="1828800"/>
          </a:xfrm>
          <a:prstGeom prst="roundRect">
            <a:avLst>
              <a:gd name="adj" fmla="val 5000"/>
            </a:avLst>
          </a:prstGeom>
          <a:solidFill>
            <a:srgbClr val="F7F6FC"/>
          </a:solidFill>
          <a:ln w="12700">
            <a:solidFill>
              <a:srgbClr val="DAD6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4498848"/>
            <a:ext cx="24917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A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8+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5212080"/>
            <a:ext cx="24917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7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releases —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7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code-reviewed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817620" y="4297680"/>
            <a:ext cx="2948940" cy="1828800"/>
          </a:xfrm>
          <a:prstGeom prst="roundRect">
            <a:avLst>
              <a:gd name="adj" fmla="val 5000"/>
            </a:avLst>
          </a:prstGeom>
          <a:solidFill>
            <a:srgbClr val="F7F6FC"/>
          </a:solidFill>
          <a:ln w="12700">
            <a:solidFill>
              <a:srgbClr val="DAD6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046220" y="4498848"/>
            <a:ext cx="24917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A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4046220" y="5212080"/>
            <a:ext cx="24917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7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blog posts,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7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and shipped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80924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line reviewed and directed by a human — not autopilot.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126480" y="86410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457200" cy="45720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" y="672084"/>
            <a:ext cx="210312" cy="210312"/>
          </a:xfrm>
          <a:prstGeom prst="star5">
            <a:avLst/>
          </a:prstGeom>
          <a:solidFill>
            <a:srgbClr val="141A3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88720" y="65836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QUALITY, TESTED HONESTLY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621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800" b="1" dirty="0">
                <a:solidFill>
                  <a:srgbClr val="141A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built my harshest</a:t>
            </a:r>
            <a:endParaRPr lang="en-US" sz="28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800" b="1" dirty="0">
                <a:solidFill>
                  <a:srgbClr val="141A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critics before my</a:t>
            </a:r>
            <a:endParaRPr lang="en-US" sz="28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800" b="1" dirty="0">
                <a:solidFill>
                  <a:srgbClr val="141A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feature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00400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B2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role-played skeptical parents — different</a:t>
            </a:r>
            <a:endParaRPr lang="en-US" sz="14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B2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ages, different mindsets — browsing the live site in</a:t>
            </a:r>
            <a:endParaRPr lang="en-US" sz="14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B2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character, deciding honestly whether they'd pay.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48640" y="4434840"/>
            <a:ext cx="6217920" cy="1737360"/>
          </a:xfrm>
          <a:prstGeom prst="roundRect">
            <a:avLst>
              <a:gd name="adj" fmla="val 5263"/>
            </a:avLst>
          </a:prstGeom>
          <a:solidFill>
            <a:srgbClr val="141A3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457200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54406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spc="100" kern="0" dirty="0">
                <a:solidFill>
                  <a:srgbClr val="E9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ROUNDS OF</a:t>
            </a:r>
            <a:endParaRPr lang="en-US" sz="10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00" b="1" spc="100" kern="0" dirty="0">
                <a:solidFill>
                  <a:srgbClr val="E9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468880" y="4572000"/>
            <a:ext cx="0" cy="1417320"/>
          </a:xfrm>
          <a:prstGeom prst="line">
            <a:avLst/>
          </a:prstGeom>
          <a:noFill/>
          <a:ln w="12700">
            <a:solidFill>
              <a:srgbClr val="3A407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51760" y="457200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54406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spc="50" kern="0" dirty="0">
                <a:solidFill>
                  <a:srgbClr val="E9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IN-CHARACTER</a:t>
            </a:r>
            <a:endParaRPr lang="en-US" sz="10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00" b="1" spc="50" kern="0" dirty="0">
                <a:solidFill>
                  <a:srgbClr val="E9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SESSIONS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26280" y="4572000"/>
            <a:ext cx="0" cy="1417320"/>
          </a:xfrm>
          <a:prstGeom prst="line">
            <a:avLst/>
          </a:prstGeom>
          <a:noFill/>
          <a:ln w="12700">
            <a:solidFill>
              <a:srgbClr val="3A407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63440" y="45720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0/3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4480560" y="54406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spc="50" kern="0" dirty="0">
                <a:solidFill>
                  <a:srgbClr val="E9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HAVE PAID —</a:t>
            </a:r>
            <a:endParaRPr lang="en-US" sz="10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00" b="1" spc="50" kern="0" dirty="0">
                <a:solidFill>
                  <a:srgbClr val="E9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HARD ROUND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492240"/>
            <a:ext cx="6217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B2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independently found the same flaw: the age</a:t>
            </a:r>
            <a:endParaRPr lang="en-US" sz="14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B2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“personalisation” was cosmetic, not structural. That's</a:t>
            </a:r>
            <a:endParaRPr lang="en-US" sz="14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B2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of customer feedback, surfaced in an afternoon.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6126480" y="86410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457200" cy="45720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" y="672084"/>
            <a:ext cx="210312" cy="210312"/>
          </a:xfrm>
          <a:prstGeom prst="star5">
            <a:avLst/>
          </a:prstGeom>
          <a:solidFill>
            <a:srgbClr val="141A3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88720" y="65836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TECH-CURIOUS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6217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800" b="1" dirty="0">
                <a:solidFill>
                  <a:srgbClr val="141A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fairness bug</a:t>
            </a:r>
            <a:endParaRPr lang="en-US" sz="28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800" b="1" dirty="0">
                <a:solidFill>
                  <a:srgbClr val="141A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hiding in the code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2560320"/>
            <a:ext cx="6217920" cy="1554480"/>
          </a:xfrm>
          <a:prstGeom prst="roundRect">
            <a:avLst>
              <a:gd name="adj" fmla="val 5882"/>
            </a:avLst>
          </a:prstGeom>
          <a:solidFill>
            <a:srgbClr val="F7F6FC"/>
          </a:solidFill>
          <a:ln w="12700">
            <a:solidFill>
              <a:srgbClr val="DAD6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7432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BUG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01752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B2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Science could never rank as a child's</a:t>
            </a: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B2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subject — across 3,000 simulated charts, it</a:t>
            </a: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B2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 zero times. A scale bug, not a talent gap.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4297680"/>
            <a:ext cx="6217920" cy="1554480"/>
          </a:xfrm>
          <a:prstGeom prst="roundRect">
            <a:avLst>
              <a:gd name="adj" fmla="val 5882"/>
            </a:avLst>
          </a:prstGeom>
          <a:solidFill>
            <a:srgbClr val="141A3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44805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6D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75488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E9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Z-score standardisation — compare each subject</a:t>
            </a: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E9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its own typical range, not a raw total. Re-verified</a:t>
            </a: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E9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6,000-chart simulation.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17220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6B7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Stack: Next.js · TypeScript · Supabase · Stripe · real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6B7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ephemeris-based astronomical calculation, not templates.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126480" y="86410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457200" cy="45720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" y="672084"/>
            <a:ext cx="210312" cy="210312"/>
          </a:xfrm>
          <a:prstGeom prst="star5">
            <a:avLst/>
          </a:prstGeom>
          <a:solidFill>
            <a:srgbClr val="141A3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88720" y="65836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PRODUCT-CURIOUS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6217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800" b="1" dirty="0">
                <a:solidFill>
                  <a:srgbClr val="141A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first,</a:t>
            </a:r>
            <a:endParaRPr lang="en-US" sz="28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800" b="1" dirty="0">
                <a:solidFill>
                  <a:srgbClr val="141A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blind leap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28016" cy="12801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478024"/>
            <a:ext cx="5897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gap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825496"/>
            <a:ext cx="5897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B2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direct competitor missed at least one of 5 things: real calculation, child-specific content, global tone, modern UX, honest positioning.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4023360"/>
            <a:ext cx="128016" cy="12801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3895344"/>
            <a:ext cx="5897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strategy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4242816"/>
            <a:ext cx="5897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B2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social is a poor fit for this category. Organic content, SEO and Pinterest lead instead — backed by real case data, not guesswork.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5440680"/>
            <a:ext cx="128016" cy="12801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68680" y="5312664"/>
            <a:ext cx="5897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risk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5660136"/>
            <a:ext cx="5897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B2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processors restrict this category, so every word on the site was framed around education and parenting — never fortune-telling.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7360920"/>
            <a:ext cx="6217920" cy="1051560"/>
          </a:xfrm>
          <a:prstGeom prst="roundRect">
            <a:avLst>
              <a:gd name="adj" fmla="val 8696"/>
            </a:avLst>
          </a:prstGeom>
          <a:solidFill>
            <a:srgbClr val="141A3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" y="749808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Realistic projection: $300–$2,000/month within</a:t>
            </a:r>
            <a:endParaRPr lang="en-US" sz="13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12–18 months of consistent content effort.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6126480" y="86410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457200" cy="45720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" y="672084"/>
            <a:ext cx="210312" cy="210312"/>
          </a:xfrm>
          <a:prstGeom prst="star5">
            <a:avLst/>
          </a:prstGeom>
          <a:solidFill>
            <a:srgbClr val="141A3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88720" y="65836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 BUILT IT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6217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100"/>
              </a:lnSpc>
              <a:buNone/>
            </a:pPr>
            <a:r>
              <a:rPr lang="en-US" sz="2700" b="1" dirty="0">
                <a:solidFill>
                  <a:srgbClr val="141A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Astrology has run</a:t>
            </a:r>
            <a:endParaRPr lang="en-US" sz="2700" dirty="0"/>
          </a:p>
          <a:p>
            <a:pPr indent="0" marL="0">
              <a:lnSpc>
                <a:spcPts val="3100"/>
              </a:lnSpc>
              <a:buNone/>
            </a:pPr>
            <a:r>
              <a:rPr lang="en-US" sz="2700" b="1" dirty="0">
                <a:solidFill>
                  <a:srgbClr val="141A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my family for years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6217920" cy="2926080"/>
          </a:xfrm>
          <a:prstGeom prst="roundRect">
            <a:avLst>
              <a:gd name="adj" fmla="val 3750"/>
            </a:avLst>
          </a:prstGeom>
          <a:solidFill>
            <a:srgbClr val="F7F6FC"/>
          </a:solidFill>
          <a:ln w="12700">
            <a:solidFill>
              <a:srgbClr val="DAD6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606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6D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246120"/>
            <a:ext cx="5577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i="1" dirty="0">
                <a:solidFill>
                  <a:srgbClr val="2B2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I've practised astrology for years, as a passionate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i="1" dirty="0">
                <a:solidFill>
                  <a:srgbClr val="2B2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hobby that runs in my family. With my own two kids,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i="1" dirty="0">
                <a:solidFill>
                  <a:srgbClr val="2B2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used it as one more lens for understanding their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i="1" dirty="0">
                <a:solidFill>
                  <a:srgbClr val="2B2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 and how to support them better.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i="1" dirty="0">
                <a:solidFill>
                  <a:srgbClr val="2B2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wanted to offer that same reflection to other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i="1" dirty="0">
                <a:solidFill>
                  <a:srgbClr val="2B2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 — and build it as a genuine passive-income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i="1" dirty="0">
                <a:solidFill>
                  <a:srgbClr val="2B2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along the way.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89788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6B7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a starting point for conversations about a child —</a:t>
            </a: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6B7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prediction. The site says so plainly.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126480" y="86410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457200" cy="45720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" y="672084"/>
            <a:ext cx="210312" cy="210312"/>
          </a:xfrm>
          <a:prstGeom prst="star5">
            <a:avLst/>
          </a:prstGeom>
          <a:solidFill>
            <a:srgbClr val="141A3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88720" y="65836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PLAYBOOK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621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800" b="1" dirty="0">
                <a:solidFill>
                  <a:srgbClr val="141A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things I'd tell</a:t>
            </a:r>
            <a:endParaRPr lang="en-US" sz="28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800" b="1" dirty="0">
                <a:solidFill>
                  <a:srgbClr val="141A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anyone building</a:t>
            </a:r>
            <a:endParaRPr lang="en-US" sz="28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800" b="1" dirty="0">
                <a:solidFill>
                  <a:srgbClr val="141A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AI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31546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41A3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10896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your AI a memory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410712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7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session remembers the last one — keep a running build log.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408736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41A3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4087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4041648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your constraints first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434340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7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 and legal lines, decided before a word of copy is written.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5020056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41A3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4974336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harshest critic first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5276088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7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testing before scaling, every time.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5952744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41A3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5952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5907024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Pause, don't delete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6208776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7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 what isn't ready behind a flag — come back when it's right.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688543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41A3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6885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6839712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uncomfortable result is the useful one</a:t>
            </a:r>
            <a:endParaRPr lang="en-US" sz="145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" y="7141464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7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hard finding made the product better.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126480" y="86410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A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91840" y="777240"/>
            <a:ext cx="731520" cy="73152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3" name="Shape 1"/>
          <p:cNvSpPr/>
          <p:nvPr/>
        </p:nvSpPr>
        <p:spPr>
          <a:xfrm>
            <a:off x="3489350" y="974750"/>
            <a:ext cx="336499" cy="336499"/>
          </a:xfrm>
          <a:prstGeom prst="star5">
            <a:avLst/>
          </a:prstGeom>
          <a:solidFill>
            <a:srgbClr val="141A3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82880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E6D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SHIFT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3172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doesn't replace</a:t>
            </a:r>
            <a:endParaRPr lang="en-US" sz="3400" dirty="0"/>
          </a:p>
          <a:p>
            <a:pPr algn="ctr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judgement.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749040"/>
            <a:ext cx="6217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multiplies whatever</a:t>
            </a:r>
            <a:endParaRPr lang="en-US" sz="3400" dirty="0"/>
          </a:p>
          <a:p>
            <a:pPr algn="ctr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judgement you bring.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371600" y="5669280"/>
            <a:ext cx="91440" cy="914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600200" y="55138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Breaking a messy idea into clean systems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371600" y="6126480"/>
            <a:ext cx="91440" cy="914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600200" y="59710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Arguing against your own assumptions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371600" y="6583680"/>
            <a:ext cx="91440" cy="914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600200" y="64282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guardrails before you build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371600" y="7040880"/>
            <a:ext cx="91440" cy="914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600200" y="68854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what to ship, park, or fix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126480" y="86410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B81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A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46120" y="1005840"/>
            <a:ext cx="822960" cy="82296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3" name="Shape 1"/>
          <p:cNvSpPr/>
          <p:nvPr/>
        </p:nvSpPr>
        <p:spPr>
          <a:xfrm>
            <a:off x="3468319" y="1228039"/>
            <a:ext cx="378562" cy="378562"/>
          </a:xfrm>
          <a:prstGeom prst="star5">
            <a:avLst/>
          </a:prstGeom>
          <a:solidFill>
            <a:srgbClr val="141A3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228600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full story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06324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E9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playbook — the tech-curious details, the</a:t>
            </a:r>
            <a:endParaRPr lang="en-US" sz="145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E9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research, and every lesson learned — is in</a:t>
            </a:r>
            <a:endParaRPr lang="en-US" sz="145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E9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article. Link in the comments below.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1005840" y="4526280"/>
            <a:ext cx="5303520" cy="1051560"/>
          </a:xfrm>
          <a:prstGeom prst="roundRect">
            <a:avLst>
              <a:gd name="adj" fmla="val 8696"/>
            </a:avLst>
          </a:prstGeom>
          <a:solidFill>
            <a:srgbClr val="1E2555"/>
          </a:solidFill>
          <a:ln w="12700">
            <a:solidFill>
              <a:srgbClr val="3A407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4754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littlestargazer.com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51206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9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product this whole story is about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603504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E9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you're building with AI — or deciding how to —</a:t>
            </a:r>
            <a:endParaRPr lang="en-US" sz="140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E9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I'd love to compare notes. Connect below.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81838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6D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#AI  #Startups  #ProductManagement  #BuildInPublic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86410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B81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2026-09-23T00:43:53Z</dcterms:created>
  <dcterms:modified xsi:type="dcterms:W3CDTF">2026-09-23T00:43:53Z</dcterms:modified>
</cp:coreProperties>
</file>