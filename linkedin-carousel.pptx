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143000"/>
            <a:ext cx="914400" cy="914400"/>
          </a:xfrm>
          <a:prstGeom prst="ellipse">
            <a:avLst/>
          </a:prstGeom>
          <a:solidFill>
            <a:srgbClr val="1C2A20"/>
          </a:solidFill>
          <a:ln/>
        </p:spPr>
      </p:sp>
      <p:pic>
        <p:nvPicPr>
          <p:cNvPr id="3" name="Image 0" descr="mark-on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1568" y="1344168"/>
            <a:ext cx="512064" cy="5120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25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FOUNDER'S PLAYBOOK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8892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2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Wrote The Code.</a:t>
            </a:r>
            <a:endParaRPr lang="en-US" sz="38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2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Part Was</a:t>
            </a:r>
            <a:endParaRPr lang="en-US" sz="38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2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Else.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7607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took to build and launch a real AI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the honest version, not the highlight reel.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092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25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→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0"/>
          </a:xfrm>
          <a:prstGeom prst="ellipse">
            <a:avLst/>
          </a:prstGeom>
          <a:solidFill>
            <a:srgbClr val="E7ECE5"/>
          </a:solidFill>
          <a:ln/>
        </p:spPr>
      </p:sp>
      <p:pic>
        <p:nvPicPr>
          <p:cNvPr id="3" name="Image 0" descr="mark-on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658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8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TIMELINE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300 hours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looks like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2697480"/>
            <a:ext cx="6217920" cy="2286000"/>
          </a:xfrm>
          <a:prstGeom prst="roundRect">
            <a:avLst>
              <a:gd name="adj" fmla="val 2400"/>
            </a:avLst>
          </a:prstGeom>
          <a:solidFill>
            <a:srgbClr val="14201A"/>
          </a:solidFill>
          <a:ln/>
          <a:effectLst>
            <a:outerShdw sx="100000" sy="100000" kx="0" ky="0" algn="bl" rotWithShape="0" blurRad="127000" dist="38100" dir="5400000">
              <a:srgbClr val="8A7C6C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48640" y="288036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C25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7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605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· 6 WEEKS · OUTSIDE MY DAY JOB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3492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from the first commit to a live site taking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payments. Then weeks of relentless refinement.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6355080"/>
            <a:ext cx="6217920" cy="13716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DCD0B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6510528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those numbers are the point on their own.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add up to: every one of them came from a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decision I made — not a default the AI picked for me.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0"/>
          </a:xfrm>
          <a:prstGeom prst="ellipse">
            <a:avLst/>
          </a:prstGeom>
          <a:solidFill>
            <a:srgbClr val="E7ECE5"/>
          </a:solidFill>
          <a:ln/>
        </p:spPr>
      </p:sp>
      <p:pic>
        <p:nvPicPr>
          <p:cNvPr id="3" name="Image 0" descr="mark-on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658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8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THROUGH, NOT SKIPPED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unglamorous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the build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2651760"/>
            <a:ext cx="128016" cy="128016"/>
          </a:xfrm>
          <a:prstGeom prst="ellipse">
            <a:avLst/>
          </a:prstGeom>
          <a:solidFill>
            <a:srgbClr val="A8452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523744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UI redesign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71216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rounds of design iteration, a mobile audit, fixes from testing on real phones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886200"/>
            <a:ext cx="128016" cy="128016"/>
          </a:xfrm>
          <a:prstGeom prst="ellipse">
            <a:avLst/>
          </a:prstGeom>
          <a:solidFill>
            <a:srgbClr val="A845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3758184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from day one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105656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blog posts, structured data, a sitemap, Search Console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5120640"/>
            <a:ext cx="128016" cy="128016"/>
          </a:xfrm>
          <a:prstGeom prst="ellipse">
            <a:avLst/>
          </a:prstGeom>
          <a:solidFill>
            <a:srgbClr val="A8452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992624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and trademark question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340096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through properly — a name collision found, checked, and resolved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79552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glamorous. All of it is why the site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instead of just existing.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0"/>
          </a:xfrm>
          <a:prstGeom prst="ellipse">
            <a:avLst/>
          </a:prstGeom>
          <a:solidFill>
            <a:srgbClr val="E7ECE5"/>
          </a:solidFill>
          <a:ln/>
        </p:spPr>
      </p:sp>
      <p:pic>
        <p:nvPicPr>
          <p:cNvPr id="3" name="Image 0" descr="mark-on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658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8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TESTED HONESTLY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built my harshest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critics before my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feature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role-played skeptical parents — different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ages, different mindsets — browsing the live site in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character, deciding honestly whether they'd pay.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4434840"/>
            <a:ext cx="6217920" cy="1737360"/>
          </a:xfrm>
          <a:prstGeom prst="roundRect">
            <a:avLst>
              <a:gd name="adj" fmla="val 3158"/>
            </a:avLst>
          </a:prstGeom>
          <a:solidFill>
            <a:srgbClr val="14201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5720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25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440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spc="100" kern="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OF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spc="100" kern="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68880" y="4572000"/>
            <a:ext cx="0" cy="1417320"/>
          </a:xfrm>
          <a:prstGeom prst="line">
            <a:avLst/>
          </a:prstGeom>
          <a:noFill/>
          <a:ln w="12700">
            <a:solidFill>
              <a:srgbClr val="3E4C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51760" y="45720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25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2331720" y="5440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spc="50" kern="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IN-CHARACTER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spc="50" kern="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SESSIONS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26280" y="4572000"/>
            <a:ext cx="0" cy="1417320"/>
          </a:xfrm>
          <a:prstGeom prst="line">
            <a:avLst/>
          </a:prstGeom>
          <a:noFill/>
          <a:ln w="12700">
            <a:solidFill>
              <a:srgbClr val="3E4C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3440" y="4572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25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0/3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5440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spc="50" kern="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HAVE PAID —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spc="50" kern="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HARD ROUND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922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independently found the same flaw: the age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“personalisation” was cosmetic, not structural.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73152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a substitute for real customer feedback — I still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real parents directly, too. Together: a fast first pass,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real check.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0"/>
          </a:xfrm>
          <a:prstGeom prst="ellipse">
            <a:avLst/>
          </a:prstGeom>
          <a:solidFill>
            <a:srgbClr val="E7ECE5"/>
          </a:solidFill>
          <a:ln/>
        </p:spPr>
      </p:sp>
      <p:pic>
        <p:nvPicPr>
          <p:cNvPr id="3" name="Image 0" descr="mark-on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658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8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TECH-CURIOUS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fairness bug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hiding in the code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560320"/>
            <a:ext cx="6217920" cy="1554480"/>
          </a:xfrm>
          <a:prstGeom prst="roundRect">
            <a:avLst>
              <a:gd name="adj" fmla="val 3529"/>
            </a:avLst>
          </a:prstGeom>
          <a:solidFill>
            <a:srgbClr val="FFFDF8"/>
          </a:solidFill>
          <a:ln w="12700">
            <a:solidFill>
              <a:srgbClr val="DCD0B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175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could never rank as a child's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subject — across 3,000 simulated charts, it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zero times. A scale bug, not a talent gap.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6217920" cy="1554480"/>
          </a:xfrm>
          <a:prstGeom prst="roundRect">
            <a:avLst>
              <a:gd name="adj" fmla="val 3529"/>
            </a:avLst>
          </a:prstGeom>
          <a:solidFill>
            <a:srgbClr val="14201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480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25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7548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D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standardisation — compare each subject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D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its own typical range, not a raw total. Re-verified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D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6,000-chart simulation.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1722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Next.js · TypeScript · Supabase · Stripe · real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ephemeris-based astronomical calculation, not templates.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0"/>
          </a:xfrm>
          <a:prstGeom prst="ellipse">
            <a:avLst/>
          </a:prstGeom>
          <a:solidFill>
            <a:srgbClr val="E7ECE5"/>
          </a:solidFill>
          <a:ln/>
        </p:spPr>
      </p:sp>
      <p:pic>
        <p:nvPicPr>
          <p:cNvPr id="3" name="Image 0" descr="mark-on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658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8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PRODUCT-CURIOUS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first,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blind leap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128016" cy="128016"/>
          </a:xfrm>
          <a:prstGeom prst="ellipse">
            <a:avLst/>
          </a:prstGeom>
          <a:solidFill>
            <a:srgbClr val="A8452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478024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gap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2549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direct competitor missed at least one of 5 things: real calculation, child-specific content, global tone, modern UX, honest positioning.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128016" cy="128016"/>
          </a:xfrm>
          <a:prstGeom prst="ellipse">
            <a:avLst/>
          </a:prstGeom>
          <a:solidFill>
            <a:srgbClr val="A845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3895344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strategy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24281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is a poor fit for this category. Organic content, SEO and Pinterest lead instead — backed by real case data, not guesswork.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5440680"/>
            <a:ext cx="128016" cy="128016"/>
          </a:xfrm>
          <a:prstGeom prst="ellipse">
            <a:avLst/>
          </a:prstGeom>
          <a:solidFill>
            <a:srgbClr val="A8452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5312664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risk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660136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processors restrict this category, so every word on the site was framed around education and parenting — never fortune-telling.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7360920"/>
            <a:ext cx="6217920" cy="1051560"/>
          </a:xfrm>
          <a:prstGeom prst="roundRect">
            <a:avLst>
              <a:gd name="adj" fmla="val 5217"/>
            </a:avLst>
          </a:prstGeom>
          <a:solidFill>
            <a:srgbClr val="14201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74980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2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projection: $300–$2,000/month within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2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months of consistent content effort.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0"/>
          </a:xfrm>
          <a:prstGeom prst="ellipse">
            <a:avLst/>
          </a:prstGeom>
          <a:solidFill>
            <a:srgbClr val="E7ECE5"/>
          </a:solidFill>
          <a:ln/>
        </p:spPr>
      </p:sp>
      <p:pic>
        <p:nvPicPr>
          <p:cNvPr id="3" name="Image 0" descr="mark-on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658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8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BUILT IT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Astrology has run</a:t>
            </a:r>
            <a:endParaRPr lang="en-US" sz="27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my family for years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6217920" cy="2926080"/>
          </a:xfrm>
          <a:prstGeom prst="roundRect">
            <a:avLst>
              <a:gd name="adj" fmla="val 2813"/>
            </a:avLst>
          </a:prstGeom>
          <a:solidFill>
            <a:srgbClr val="FFFDF8"/>
          </a:solidFill>
          <a:ln w="12700">
            <a:solidFill>
              <a:srgbClr val="DCD0B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3DD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24612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practised astrology for years, as a passionate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 that runs in my family. With my own two kids,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it as one more lens for understanding their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how to support them better.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wanted to offer that same reflection to other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— and build a content-driven income stream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20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the way. Not passive: it takes ongoing work.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978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starting point for conversations about a child —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prediction. The site says so plainly.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0"/>
          </a:xfrm>
          <a:prstGeom prst="ellipse">
            <a:avLst/>
          </a:prstGeom>
          <a:solidFill>
            <a:srgbClr val="E7ECE5"/>
          </a:solidFill>
          <a:ln/>
        </p:spPr>
      </p:sp>
      <p:pic>
        <p:nvPicPr>
          <p:cNvPr id="3" name="Image 0" descr="mark-on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658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84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PLAYBOOK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things I'd tell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 building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5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20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108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AI a memory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4107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session remembers the last one — keep a running build log.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0873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20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40416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constraints first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43434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and legal lines, decided before a word of copy is written.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50200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20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497433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harshest critic first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52760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 before scaling, every time.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952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20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5952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590702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Pause, don't delete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620877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what isn't ready behind a flag — come back when it's right.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68854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201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6885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097280" y="68397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uncomfortable result is the useful one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714146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hard finding made the product better.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1264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6120" y="731520"/>
            <a:ext cx="822960" cy="822960"/>
          </a:xfrm>
          <a:prstGeom prst="ellipse">
            <a:avLst/>
          </a:prstGeom>
          <a:solidFill>
            <a:srgbClr val="1C2A20"/>
          </a:solidFill>
          <a:ln/>
        </p:spPr>
      </p:sp>
      <p:pic>
        <p:nvPicPr>
          <p:cNvPr id="3" name="Image 0" descr="mark-on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7171" y="9125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830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25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SHIFT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2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doesn't replace</a:t>
            </a:r>
            <a:endParaRPr lang="en-US" sz="34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2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judgement.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033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C25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multiplies whatever</a:t>
            </a:r>
            <a:endParaRPr lang="en-US" sz="34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C25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judgement you bring.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1371600" y="5623560"/>
            <a:ext cx="91440" cy="91440"/>
          </a:xfrm>
          <a:prstGeom prst="ellipse">
            <a:avLst/>
          </a:prstGeom>
          <a:solidFill>
            <a:srgbClr val="C25F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600200" y="5468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 messy idea into clean systems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1600" y="6080760"/>
            <a:ext cx="91440" cy="91440"/>
          </a:xfrm>
          <a:prstGeom prst="ellipse">
            <a:avLst/>
          </a:prstGeom>
          <a:solidFill>
            <a:srgbClr val="C25F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600200" y="59253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Arguing against your own assumptions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371600" y="6537960"/>
            <a:ext cx="91440" cy="91440"/>
          </a:xfrm>
          <a:prstGeom prst="ellipse">
            <a:avLst/>
          </a:prstGeom>
          <a:solidFill>
            <a:srgbClr val="C25F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00200" y="6382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guardrails before you build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371600" y="6995160"/>
            <a:ext cx="91440" cy="91440"/>
          </a:xfrm>
          <a:prstGeom prst="ellipse">
            <a:avLst/>
          </a:prstGeom>
          <a:solidFill>
            <a:srgbClr val="C25F3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600200" y="6839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what to ship, park, or fix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60120"/>
            <a:ext cx="914400" cy="914400"/>
          </a:xfrm>
          <a:prstGeom prst="ellipse">
            <a:avLst/>
          </a:prstGeom>
          <a:solidFill>
            <a:srgbClr val="1C2A20"/>
          </a:solidFill>
          <a:ln/>
        </p:spPr>
      </p:sp>
      <p:pic>
        <p:nvPicPr>
          <p:cNvPr id="3" name="Image 0" descr="mark-on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1568" y="1161288"/>
            <a:ext cx="512064" cy="5120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402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E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full story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0175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playbook — the tech-curious details, the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research, and every lesson learned — is in</a:t>
            </a:r>
            <a:endParaRPr lang="en-US" sz="14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article. Link in the comments below.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1005840" y="448056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1C2A20"/>
          </a:solidFill>
          <a:ln w="12700">
            <a:solidFill>
              <a:srgbClr val="35462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4709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littlestargazer.com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5074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product this whole story is about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989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building with AI — or deciding how to —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D8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love to compare notes. Connect below.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8183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25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#AI  #Startups  #ProductManagement  #BuildInPublic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8641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2026-09-23T13:04:17Z</dcterms:created>
  <dcterms:modified xsi:type="dcterms:W3CDTF">2026-09-23T13:04:17Z</dcterms:modified>
</cp:coreProperties>
</file>